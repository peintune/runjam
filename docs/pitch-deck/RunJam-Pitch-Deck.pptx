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-1371600"/>
            <a:ext cx="5943600" cy="594360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-914400"/>
            <a:ext cx="5029200" cy="5029200"/>
          </a:xfrm>
          <a:prstGeom prst="rect">
            <a:avLst/>
          </a:prstGeom>
          <a:solidFill>
            <a:srgbClr val="0F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0" y="-457200"/>
            <a:ext cx="4114800" cy="4114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-91440"/>
            <a:ext cx="3657600" cy="3657600"/>
          </a:xfrm>
          <a:prstGeom prst="rect">
            <a:avLst/>
          </a:prstGeom>
          <a:solidFill>
            <a:srgbClr val="0F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005840"/>
            <a:ext cx="640080" cy="64008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280160"/>
            <a:ext cx="640080" cy="640080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0" y="1554480"/>
            <a:ext cx="640080" cy="640080"/>
          </a:xfrm>
          <a:prstGeom prst="rect">
            <a:avLst/>
          </a:prstGeom>
          <a:solidFill>
            <a:srgbClr val="CE4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1828800"/>
            <a:ext cx="640080" cy="6400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42B883"/>
                </a:solidFill>
                <a:latin typeface="Microsoft YaHei"/>
              </a:rPr>
              <a:t>RUNJAM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1F5F9"/>
                </a:solidFill>
                <a:latin typeface="Microsoft YaHei"/>
              </a:rPr>
              <a:t>一个桌面, </a:t>
            </a:r>
            <a:r>
              <a:rPr sz="5600" b="1">
                <a:solidFill>
                  <a:srgbClr val="42B883"/>
                </a:solidFill>
                <a:latin typeface="Microsoft YaHei"/>
              </a:rPr>
              <a:t>所有 AI Agent, </a:t>
            </a:r>
            <a:r>
              <a:rPr sz="5600" b="1">
                <a:solidFill>
                  <a:srgbClr val="FFA94D"/>
                </a:solidFill>
                <a:latin typeface="Microsoft YaHei"/>
              </a:rPr>
              <a:t>零锁定。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Microsoft YaHei"/>
              </a:rPr>
              <a:t>本地优先 · 多 Agent · 多模型 · 多项目 · 统一管理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5212080"/>
            <a:ext cx="73152" cy="109728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521208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42B883"/>
                </a:solidFill>
                <a:latin typeface="Microsoft YaHei"/>
              </a:rPr>
              <a:t>Claude Code  ×  Codex CLI  ×  Gemini 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623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Microsoft YaHei"/>
              </a:rPr>
              <a:t>一次配置, 所有 Agent 都能用任意模型 —— 无需 ACP 改造, 无需逐个改配置, 不上云, 不绑死。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355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Tauri 2  ·  Rust  ·  Vue 3  ·  MIT License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2B883"/>
                </a:solidFill>
                <a:latin typeface="Microsoft YaHei"/>
              </a:rPr>
              <a:t>01 · 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F1F5F9"/>
                </a:solidFill>
                <a:latin typeface="Microsoft YaHei"/>
              </a:rPr>
              <a:t>RunJam 是什么?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Microsoft YaHei"/>
              </a:rPr>
              <a:t>不是 AI, 不是 IDE, 不是云端 IDE —— RunJam 是 AI Agent 桌面管理器。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10881360" cy="1828800"/>
          </a:xfrm>
          <a:prstGeom prst="rect">
            <a:avLst/>
          </a:prstGeom>
          <a:solidFill>
            <a:srgbClr val="1A1E2A"/>
          </a:solidFill>
          <a:ln w="1270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37160" cy="182880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1F5F9"/>
                </a:solidFill>
                <a:latin typeface="Microsoft YaHei"/>
              </a:rPr>
              <a:t>把</a:t>
            </a:r>
            <a:r>
              <a:rPr sz="2800" b="1">
                <a:solidFill>
                  <a:srgbClr val="FFA94D"/>
                </a:solidFill>
                <a:latin typeface="Microsoft YaHei"/>
              </a:rPr>
              <a:t> Claude Code </a:t>
            </a:r>
            <a:r>
              <a:rPr sz="2800" b="0">
                <a:solidFill>
                  <a:srgbClr val="F1F5F9"/>
                </a:solidFill>
                <a:latin typeface="Microsoft YaHei"/>
              </a:rPr>
              <a:t>、</a:t>
            </a:r>
            <a:r>
              <a:rPr sz="2800" b="1">
                <a:solidFill>
                  <a:srgbClr val="CE422B"/>
                </a:solidFill>
                <a:latin typeface="Microsoft YaHei"/>
              </a:rPr>
              <a:t>Codex CLI</a:t>
            </a:r>
            <a:r>
              <a:rPr sz="2800" b="0">
                <a:solidFill>
                  <a:srgbClr val="F1F5F9"/>
                </a:solidFill>
                <a:latin typeface="Microsoft YaHei"/>
              </a:rPr>
              <a:t>、</a:t>
            </a:r>
            <a:r>
              <a:rPr sz="2800" b="1">
                <a:solidFill>
                  <a:srgbClr val="6366F1"/>
                </a:solidFill>
                <a:latin typeface="Microsoft YaHei"/>
              </a:rPr>
              <a:t>Gemini CLI</a:t>
            </a:r>
          </a:p>
          <a:p>
            <a:pPr algn="l"/>
            <a:r>
              <a:rPr sz="2800" b="1">
                <a:solidFill>
                  <a:srgbClr val="F1F5F9"/>
                </a:solidFill>
                <a:latin typeface="Microsoft YaHei"/>
              </a:rPr>
              <a:t> 装进一个桌面。</a:t>
            </a:r>
          </a:p>
          <a:p>
            <a:pPr algn="l"/>
            <a:r>
              <a:rPr sz="2200" b="0">
                <a:solidFill>
                  <a:srgbClr val="94A3B8"/>
                </a:solidFill>
                <a:latin typeface="Microsoft YaHei"/>
              </a:rPr>
              <a:t>通过内置协议代理, </a:t>
            </a:r>
            <a:r>
              <a:rPr sz="2200" b="1">
                <a:solidFill>
                  <a:srgbClr val="42B883"/>
                </a:solidFill>
                <a:latin typeface="Microsoft YaHei"/>
              </a:rPr>
              <a:t>Anthropic ↔ OpenAI ↔ Gemini</a:t>
            </a:r>
            <a:r>
              <a:rPr sz="2200" b="0">
                <a:solidFill>
                  <a:srgbClr val="94A3B8"/>
                </a:solidFill>
                <a:latin typeface="Microsoft YaHei"/>
              </a:rPr>
              <a:t> 实时互转 —— 任意 Agent 用任意模型。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6879" y="4572000"/>
            <a:ext cx="2606040" cy="182880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6879" y="4572000"/>
            <a:ext cx="2606040" cy="7315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759" y="48006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42B883"/>
                </a:solidFill>
                <a:latin typeface="Microsoft YaHei"/>
              </a:rPr>
              <a:t>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759" y="5349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统一窗口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759" y="57607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聊天 / 文件树 / 编辑器 / 终端, 一窗搞定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7511" y="4572000"/>
            <a:ext cx="2606040" cy="182880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7511" y="4572000"/>
            <a:ext cx="2606040" cy="73152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0391" y="48006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FFA94D"/>
                </a:solidFill>
                <a:latin typeface="Microsoft YaHei"/>
              </a:rPr>
              <a:t>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0391" y="5349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任意模型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0391" y="57607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一次配置, 全 Agent 同步, 协议自动转换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8143" y="4572000"/>
            <a:ext cx="2606040" cy="182880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8143" y="4572000"/>
            <a:ext cx="2606040" cy="73152"/>
          </a:xfrm>
          <a:prstGeom prst="rect">
            <a:avLst/>
          </a:prstGeom>
          <a:solidFill>
            <a:srgbClr val="CE4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1023" y="48006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CE422B"/>
                </a:solidFill>
                <a:latin typeface="Microsoft YaHei"/>
              </a:rPr>
              <a:t>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1023" y="5349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零改造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1023" y="57607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通过原生 CLI stdin/stdout 驱动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8775" y="4572000"/>
            <a:ext cx="2606040" cy="182880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48775" y="4572000"/>
            <a:ext cx="2606040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31655" y="48006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6366F1"/>
                </a:solidFill>
                <a:latin typeface="Microsoft YaHei"/>
              </a:rPr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1655" y="5349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本地优先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1655" y="57607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数据全在 ~/.runjam/, 零遥测, 零云同步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CE422B"/>
                </a:solidFill>
                <a:latin typeface="Microsoft YaHei"/>
              </a:rPr>
              <a:t>02 · 市场痛点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Microsoft YaHei"/>
              </a:rPr>
              <a:t>AI Agent 开发者的 8 大日常崩溃瞬间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Microsoft YaHei"/>
              </a:rPr>
              <a:t>如果以下场景你至少中过一条, RunJam 就是为你做的。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577840" cy="96012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59" y="2176272"/>
            <a:ext cx="640080" cy="640080"/>
          </a:xfrm>
          <a:prstGeom prst="rect">
            <a:avLst/>
          </a:prstGeom>
          <a:solidFill>
            <a:srgbClr val="CE4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76272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1F5F9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7627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终端动物园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6032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五个终端标签页, 各跑不同 Agent, 改不同项目。Kill 错一个, 会话全丢。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2011680"/>
            <a:ext cx="5577840" cy="96012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65392" y="2176272"/>
            <a:ext cx="640080" cy="640080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176272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1F5F9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2631" y="217627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模型不互通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2631" y="256032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同一个 prompt 想测 Claude / GPT / 本地 Qwen? 三套配置文件挨个改一遍。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36392"/>
            <a:ext cx="5577840" cy="96012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" y="3300984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300984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1F5F9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300984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协议高墙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68503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Claude 只讲 Anthropic, Codex 只讲 OpenAI, Gemini 只讲 Google。换模型得钻进 Agent 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82512" y="3136392"/>
            <a:ext cx="5577840" cy="96012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3300984"/>
            <a:ext cx="640080" cy="64008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300984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1F5F9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2631" y="3300984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Token 烧钱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1" y="368503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每个轮次重发同一份 system prompt。哪些命中缓存? 哪些没命中? 一无所知。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61104"/>
            <a:ext cx="5577840" cy="96012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59" y="4425696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4425696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1F5F9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425696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环境配置地狱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809744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新项目 / 新 Agent / 新 API Key / 新 PATH 问题 / 新 npm install / 新版本冲突。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82512" y="4261104"/>
            <a:ext cx="5577840" cy="96012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65392" y="4425696"/>
            <a:ext cx="640080" cy="6400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4425696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1F5F9"/>
                </a:solidFill>
                <a:latin typeface="Microsoft YaHe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42631" y="4425696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单一 Agent 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2631" y="4809744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Cursor 包了 GPT-4, Copilot 包了 OpenAI。模型换了, 整个工作流都得迁移。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385816"/>
            <a:ext cx="5577840" cy="96012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59" y="5550408"/>
            <a:ext cx="640080" cy="640080"/>
          </a:xfrm>
          <a:prstGeom prst="rect">
            <a:avLst/>
          </a:prstGeom>
          <a:solidFill>
            <a:srgbClr val="CE4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59" y="555040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1F5F9"/>
                </a:solidFill>
                <a:latin typeface="Microsoft YaHe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555040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云端数据焦虑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5934456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某些 "AI IDE" 把你的私有代码、内部配置、Prompt 发到厂商服务器。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2512" y="5385816"/>
            <a:ext cx="5577840" cy="96012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5392" y="5550408"/>
            <a:ext cx="640080" cy="64008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555040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1F5F9"/>
                </a:solidFill>
                <a:latin typeface="Microsoft YaHe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42631" y="555040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会话黑洞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42631" y="5934456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关掉 IDE 会话就丢, 换台机器从头来, 想找上周某条 Prompt? 祝你好运。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2B883"/>
                </a:solidFill>
                <a:latin typeface="Microsoft YaHei"/>
              </a:rPr>
              <a:t>03 · 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Microsoft YaHei"/>
              </a:rPr>
              <a:t>一个应用, 把 8 个痛点全部解决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3482035" cy="457200"/>
          </a:xfrm>
          <a:prstGeom prst="rect">
            <a:avLst/>
          </a:prstGeom>
          <a:solidFill>
            <a:srgbClr val="1A1E2A"/>
          </a:solidFill>
          <a:ln w="635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2115" y="1554480"/>
            <a:ext cx="7399324" cy="457200"/>
          </a:xfrm>
          <a:prstGeom prst="rect">
            <a:avLst/>
          </a:prstGeom>
          <a:solidFill>
            <a:srgbClr val="42B883"/>
          </a:solidFill>
          <a:ln w="635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54480"/>
            <a:ext cx="348203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Microsoft YaHei"/>
              </a:rPr>
              <a:t>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4995" y="1554480"/>
            <a:ext cx="73993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121A"/>
                </a:solidFill>
                <a:latin typeface="Microsoft YaHei"/>
              </a:rPr>
              <a:t>RunJam 的解法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3482035" cy="5486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2115" y="2011680"/>
            <a:ext cx="7399324" cy="5486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73152" cy="548640"/>
          </a:xfrm>
          <a:prstGeom prst="rect">
            <a:avLst/>
          </a:prstGeom>
          <a:solidFill>
            <a:srgbClr val="CE4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011680"/>
            <a:ext cx="32077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终端动物园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4995" y="2011680"/>
            <a:ext cx="71250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统一窗口, 并行会话、侧边栏, 每个会话独立工作区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60320"/>
            <a:ext cx="3482035" cy="5486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22115" y="2560320"/>
            <a:ext cx="7399324" cy="5486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560320"/>
            <a:ext cx="73152" cy="548640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560320"/>
            <a:ext cx="32077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模型不互通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4995" y="2560320"/>
            <a:ext cx="71250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统一模型中心 —— 配一次, 每个 Agent 两次点击就能绑定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108960"/>
            <a:ext cx="3482035" cy="5486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22115" y="3108960"/>
            <a:ext cx="7399324" cy="5486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10896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108960"/>
            <a:ext cx="32077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协议高墙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4995" y="3108960"/>
            <a:ext cx="71250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内置协议代理, Anthropic / OpenAI / Gemini 实时互转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57600"/>
            <a:ext cx="3482035" cy="5486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22115" y="3657600"/>
            <a:ext cx="7399324" cy="5486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657600"/>
            <a:ext cx="73152" cy="5486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657600"/>
            <a:ext cx="32077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Token 烧钱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4995" y="3657600"/>
            <a:ext cx="71250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自动检测 prompt cache + 本地响应缓存 + 每会话费用看板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206240"/>
            <a:ext cx="3482035" cy="5486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22115" y="4206240"/>
            <a:ext cx="7399324" cy="5486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206240"/>
            <a:ext cx="73152" cy="5486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4206240"/>
            <a:ext cx="32077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环境配置地狱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4995" y="4206240"/>
            <a:ext cx="71250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自动检测 + 一键安装 Claude Code / Codex / Gemini CLI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754880"/>
            <a:ext cx="3482035" cy="5486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22115" y="4754880"/>
            <a:ext cx="7399324" cy="5486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754880"/>
            <a:ext cx="73152" cy="548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4754880"/>
            <a:ext cx="32077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单一 Agent 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04995" y="4754880"/>
            <a:ext cx="71250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Agent 中立 —— 换 Agent 不换工作流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303520"/>
            <a:ext cx="3482035" cy="5486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22115" y="5303520"/>
            <a:ext cx="7399324" cy="5486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303520"/>
            <a:ext cx="73152" cy="54864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5303520"/>
            <a:ext cx="32077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云端数据焦虑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04995" y="5303520"/>
            <a:ext cx="71250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本地优先, 数据全在 ~/.runjam/, API Key 进系统钥匙串, 零遥测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852160"/>
            <a:ext cx="3482035" cy="5486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22115" y="5852160"/>
            <a:ext cx="7399324" cy="5486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" y="585216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852160"/>
            <a:ext cx="32077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会话黑洞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04995" y="5852160"/>
            <a:ext cx="71250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会话持久化、全文搜索、归档, 跨设备同步友好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A94D"/>
                </a:solidFill>
                <a:latin typeface="Microsoft YaHei"/>
              </a:rPr>
              <a:t>04 · 竞争格局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Microsoft YaHei"/>
              </a:rPr>
              <a:t>为什么不是 Cursor / Copilot / AionUI?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RunJam 是目前唯一同时满足「本地优先 + 任意 Agent + 协议自动转换」的产品。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5167" y="1874519"/>
            <a:ext cx="3291840" cy="502920"/>
          </a:xfrm>
          <a:prstGeom prst="rect">
            <a:avLst/>
          </a:prstGeom>
          <a:solidFill>
            <a:srgbClr val="1A1E2A"/>
          </a:solidFill>
          <a:ln w="635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1874519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YaHei"/>
              </a:rPr>
              <a:t>特性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3947007" y="1874519"/>
            <a:ext cx="2011680" cy="502920"/>
          </a:xfrm>
          <a:prstGeom prst="rect">
            <a:avLst/>
          </a:prstGeom>
          <a:solidFill>
            <a:srgbClr val="42B883"/>
          </a:solidFill>
          <a:ln w="635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8447" y="1874519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F121A"/>
                </a:solidFill>
                <a:latin typeface="Microsoft YaHei"/>
              </a:rPr>
              <a:t>RunJam</a:t>
            </a:r>
          </a:p>
        </p:txBody>
      </p:sp>
      <p:sp>
        <p:nvSpPr>
          <p:cNvPr id="9" name="Rectangle 8"/>
          <p:cNvSpPr/>
          <p:nvPr/>
        </p:nvSpPr>
        <p:spPr>
          <a:xfrm>
            <a:off x="5958687" y="1874519"/>
            <a:ext cx="2194560" cy="502920"/>
          </a:xfrm>
          <a:prstGeom prst="rect">
            <a:avLst/>
          </a:prstGeom>
          <a:solidFill>
            <a:srgbClr val="1A1E2A"/>
          </a:solidFill>
          <a:ln w="635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0127" y="1874519"/>
            <a:ext cx="20116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YaHei"/>
              </a:rPr>
              <a:t>Cursor / Copilot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53247" y="1874519"/>
            <a:ext cx="1645920" cy="502920"/>
          </a:xfrm>
          <a:prstGeom prst="rect">
            <a:avLst/>
          </a:prstGeom>
          <a:solidFill>
            <a:srgbClr val="1A1E2A"/>
          </a:solidFill>
          <a:ln w="635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4687" y="1874519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YaHei"/>
              </a:rPr>
              <a:t>AionUI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99167" y="1874519"/>
            <a:ext cx="1737360" cy="502920"/>
          </a:xfrm>
          <a:prstGeom prst="rect">
            <a:avLst/>
          </a:prstGeom>
          <a:solidFill>
            <a:srgbClr val="1A1E2A"/>
          </a:solidFill>
          <a:ln w="635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90607" y="1874519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YaHei"/>
              </a:rPr>
              <a:t>原生 CLI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5167" y="2377439"/>
            <a:ext cx="329184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047" y="237743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本地优先, 不上云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47007" y="2377439"/>
            <a:ext cx="201168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47007" y="237743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58687" y="2377439"/>
            <a:ext cx="21945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8687" y="237743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3247" y="2377439"/>
            <a:ext cx="164592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3247" y="2377439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99167" y="2377439"/>
            <a:ext cx="17373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9167" y="2377439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167" y="2697479"/>
            <a:ext cx="329184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047" y="269747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兼容任意 AI Agent CLI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47007" y="2697479"/>
            <a:ext cx="201168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47007" y="269747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58687" y="2697479"/>
            <a:ext cx="21945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58687" y="269747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53247" y="2697479"/>
            <a:ext cx="164592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3247" y="2697479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Microsoft YaHei"/>
              </a:rPr>
              <a:t>⚠️ 仅 ACP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99167" y="2697479"/>
            <a:ext cx="17373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99167" y="2697479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5167" y="3017520"/>
            <a:ext cx="329184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047" y="30175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模型协议自动转换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47007" y="3017520"/>
            <a:ext cx="201168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47007" y="301752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58687" y="3017520"/>
            <a:ext cx="21945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58687" y="30175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53247" y="3017520"/>
            <a:ext cx="164592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3247" y="30175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Microsoft YaHei"/>
              </a:rPr>
              <a:t>⚠️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99167" y="3017520"/>
            <a:ext cx="17373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99167" y="301752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5167" y="3337559"/>
            <a:ext cx="329184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8047" y="333755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Agent 一键安装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47007" y="3337559"/>
            <a:ext cx="201168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47007" y="333755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58687" y="3337559"/>
            <a:ext cx="21945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58687" y="333755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53247" y="3337559"/>
            <a:ext cx="164592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53247" y="3337559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99167" y="3337559"/>
            <a:ext cx="17373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99167" y="3337559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5167" y="3657599"/>
            <a:ext cx="329184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8047" y="365759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多项目并行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47007" y="3657599"/>
            <a:ext cx="201168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47007" y="365759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58687" y="3657599"/>
            <a:ext cx="21945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58687" y="365759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53247" y="3657599"/>
            <a:ext cx="164592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53247" y="3657599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Microsoft YaHei"/>
              </a:rPr>
              <a:t>⚠️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799167" y="3657599"/>
            <a:ext cx="17373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99167" y="3657599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5167" y="3977639"/>
            <a:ext cx="329184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8047" y="397763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内置编辑器 + 终端 + 文件树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47007" y="3977639"/>
            <a:ext cx="201168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47007" y="397763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58687" y="3977639"/>
            <a:ext cx="21945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58687" y="397763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53247" y="3977639"/>
            <a:ext cx="164592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53247" y="3977639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Microsoft YaHei"/>
              </a:rPr>
              <a:t>⚠️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799167" y="3977639"/>
            <a:ext cx="17373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99167" y="3977639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5167" y="4297679"/>
            <a:ext cx="329184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8047" y="429767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本地模型 (llama.cpp)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47007" y="4297679"/>
            <a:ext cx="201168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47007" y="429767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58687" y="4297679"/>
            <a:ext cx="21945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58687" y="429767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53247" y="4297679"/>
            <a:ext cx="164592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53247" y="4297679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799167" y="4297679"/>
            <a:ext cx="17373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799167" y="4297679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55167" y="4617719"/>
            <a:ext cx="329184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8047" y="461771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应用管理 (自配网页应用)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947007" y="4617719"/>
            <a:ext cx="201168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947007" y="461771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58687" y="4617719"/>
            <a:ext cx="21945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58687" y="461771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153247" y="4617719"/>
            <a:ext cx="164592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153247" y="4617719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799167" y="4617719"/>
            <a:ext cx="17373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799167" y="4617719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55167" y="4937759"/>
            <a:ext cx="329184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8047" y="493775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会话看板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947007" y="4937759"/>
            <a:ext cx="201168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947007" y="493775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58687" y="4937759"/>
            <a:ext cx="21945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58687" y="493775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153247" y="4937759"/>
            <a:ext cx="164592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153247" y="4937759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799167" y="4937759"/>
            <a:ext cx="17373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799167" y="4937759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5167" y="5257800"/>
            <a:ext cx="329184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8047" y="52578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费用统计看板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47007" y="5257800"/>
            <a:ext cx="201168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947007" y="525780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58687" y="5257800"/>
            <a:ext cx="21945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58687" y="52578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153247" y="5257800"/>
            <a:ext cx="164592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153247" y="52578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799167" y="5257800"/>
            <a:ext cx="17373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799167" y="52578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55167" y="5577840"/>
            <a:ext cx="329184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38047" y="55778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开源 (MIT)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947007" y="5577840"/>
            <a:ext cx="201168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947007" y="55778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958687" y="5577840"/>
            <a:ext cx="21945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958687" y="55778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153247" y="5577840"/>
            <a:ext cx="164592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153247" y="55778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799167" y="5577840"/>
            <a:ext cx="17373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99167" y="55778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55167" y="5897879"/>
            <a:ext cx="329184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38047" y="589787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Agent 无需改造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947007" y="5897879"/>
            <a:ext cx="201168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947007" y="589787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958687" y="5897879"/>
            <a:ext cx="21945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958687" y="589787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Microsoft YaHei"/>
              </a:rPr>
              <a:t>n/a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153247" y="5897879"/>
            <a:ext cx="164592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153247" y="5897879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799167" y="5897879"/>
            <a:ext cx="17373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799167" y="5897879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Microsoft YaHei"/>
              </a:rPr>
              <a:t>n/a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</a:rPr>
              <a:t>05 ·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Microsoft YaHei"/>
              </a:rPr>
              <a:t>协议代理: RunJam 的核心杀手锏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Agent 通过 stdin/stdout 直接驱动 —— 协议适配在代理层完成, Agent 零改造。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2606040" cy="310896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606040" cy="45720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031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F121A"/>
                </a:solidFill>
                <a:latin typeface="Microsoft YaHei"/>
              </a:rPr>
              <a:t>🖥️  Vue 3 前端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聊天界面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会话看板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工作区面板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设置面板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2103120"/>
            <a:ext cx="2606040" cy="310896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2103120"/>
            <a:ext cx="2606040" cy="457200"/>
          </a:xfrm>
          <a:prstGeom prst="rect">
            <a:avLst/>
          </a:prstGeom>
          <a:solidFill>
            <a:srgbClr val="CE4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21031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Microsoft YaHei"/>
              </a:rPr>
              <a:t>🤖  AI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Claude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31546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Codex CLI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5661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Gemini CLI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3977639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(更多 Agent…)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103120"/>
            <a:ext cx="2606040" cy="310896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103120"/>
            <a:ext cx="2606040" cy="457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21031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Microsoft YaHei"/>
              </a:rPr>
              <a:t>🔀  RunJam 代理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协议路由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31546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响应缓存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35661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LLM 协议适配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977639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Prompt cache 检测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51976" y="2103120"/>
            <a:ext cx="2606040" cy="310896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1976" y="2103120"/>
            <a:ext cx="26060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5" y="21031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F121A"/>
                </a:solidFill>
                <a:latin typeface="Microsoft YaHei"/>
              </a:rPr>
              <a:t>☁️  LLM 接口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296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Anthropic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1546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OpenAI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35661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Google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3977639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DeepSeek / Qwen / 本地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9544" y="3474720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42B883"/>
                </a:solidFill>
                <a:latin typeface="Microsoft YaHe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0176" y="3474720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42B883"/>
                </a:solidFill>
                <a:latin typeface="Microsoft YaHe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0807" y="3474720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42B883"/>
                </a:solidFill>
                <a:latin typeface="Microsoft YaHe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440680"/>
            <a:ext cx="10881360" cy="914400"/>
          </a:xfrm>
          <a:prstGeom prst="rect">
            <a:avLst/>
          </a:prstGeom>
          <a:solidFill>
            <a:srgbClr val="222736"/>
          </a:solidFill>
          <a:ln w="19050">
            <a:solidFill>
              <a:srgbClr val="42B8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4864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42B883"/>
                </a:solidFill>
                <a:latin typeface="Microsoft YaHei"/>
              </a:rPr>
              <a:t>Anthropic  ↔  OpenAI  ↔  Gemini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8521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Microsoft YaHei"/>
              </a:rPr>
              <a:t>Claude Code 跑 GPT-4o · Codex 跑 Claude Sonnet · Gemini 跑 DeepSeek —— 配置一次, 全 Agent 同步。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2B883"/>
                </a:solidFill>
                <a:latin typeface="Microsoft YaHei"/>
              </a:rPr>
              <a:t>06 · 功能矩阵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Microsoft YaHei"/>
              </a:rPr>
              <a:t>一个桌面, 9 大功能模块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3657600" cy="150876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91440" cy="150876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5623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42B883"/>
                </a:solidFill>
                <a:latin typeface="Microsoft YaHei"/>
              </a:rPr>
              <a:t>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74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Agent 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自动检测 + 一键安装 Claude / Codex / Gemini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691640"/>
            <a:ext cx="3657600" cy="150876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91640"/>
            <a:ext cx="91440" cy="1508760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85623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FFA94D"/>
                </a:solidFill>
                <a:latin typeface="Microsoft YaHei"/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874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统一聊天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560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实时流式 + 思考块 + 工具调用 + Markdown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91640"/>
            <a:ext cx="3657600" cy="150876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91640"/>
            <a:ext cx="91440" cy="1508760"/>
          </a:xfrm>
          <a:prstGeom prst="rect">
            <a:avLst/>
          </a:prstGeom>
          <a:solidFill>
            <a:srgbClr val="CE4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85623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CE422B"/>
                </a:solidFill>
                <a:latin typeface="Microsoft YaHei"/>
              </a:rPr>
              <a:t>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1874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项目工作区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Monaco 编辑器 + xterm.js 终端 + 文件树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337560"/>
            <a:ext cx="3657600" cy="150876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337560"/>
            <a:ext cx="91440" cy="15087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0215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6366F1"/>
                </a:solidFill>
                <a:latin typeface="Microsoft YaHei"/>
              </a:rPr>
              <a:t>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5204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统一模型中心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062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配一次, 全 Agent 同步 · 7+ 服务商预设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337560"/>
            <a:ext cx="3657600" cy="150876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337560"/>
            <a:ext cx="91440" cy="15087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350215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8B5CF6"/>
                </a:solidFill>
                <a:latin typeface="Microsoft YaHei"/>
              </a:rPr>
              <a:t>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5204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本地模型启动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2062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llama.cpp + GGUF 一键启动, 零 API 费用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337560"/>
            <a:ext cx="3657600" cy="150876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3337560"/>
            <a:ext cx="91440" cy="150876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350215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C4899"/>
                </a:solidFill>
                <a:latin typeface="Microsoft YaHei"/>
              </a:rPr>
              <a:t>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5204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应用管理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2062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把常用网页应用钉到 RunJam 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983479"/>
            <a:ext cx="3657600" cy="150876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983479"/>
            <a:ext cx="91440" cy="1508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48071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F59E0B"/>
                </a:solidFill>
                <a:latin typeface="Microsoft YaHei"/>
              </a:rP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5166359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会话看板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852159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一屏掌握所有会话状态 (运行中/等待/异常)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34840" y="4983479"/>
            <a:ext cx="3657600" cy="150876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34840" y="4983479"/>
            <a:ext cx="91440" cy="150876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9160" y="5148071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42B883"/>
                </a:solidFill>
                <a:latin typeface="Microsoft YaHei"/>
              </a:rPr>
              <a:t>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0" y="5166359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费用统计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5852159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按模型 / Agent / 天拆分 + 缓存命中率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4983479"/>
            <a:ext cx="3657600" cy="150876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0" y="4983479"/>
            <a:ext cx="91440" cy="15087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5148071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6366F1"/>
                </a:solidFill>
                <a:latin typeface="Microsoft YaHei"/>
              </a:rPr>
              <a:t>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5166359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协议代理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5852159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Anthropic ↔ OpenAI ↔ Gemini 自动互转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0" y="-1828800"/>
            <a:ext cx="7315200" cy="7315200"/>
          </a:xfrm>
          <a:prstGeom prst="rect">
            <a:avLst/>
          </a:prstGeom>
          <a:solidFill>
            <a:srgbClr val="1A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</a:rPr>
              <a:t>07 · 核心特性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Microsoft YaHei"/>
              </a:rPr>
              <a:t>协议代理: 为什么「一次配置」真的能成立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4864" cy="8229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>
                <a:solidFill>
                  <a:srgbClr val="6366F1"/>
                </a:solidFill>
                <a:latin typeface="Microsoft YaHei"/>
              </a:rPr>
              <a:t>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373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协议自动翻译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48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Anthropic ↔ OpenAI ↔ Gemini, 任意 Agent 用任意模型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54864" cy="82296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>
                <a:solidFill>
                  <a:srgbClr val="42B883"/>
                </a:solidFill>
                <a:latin typeface="Microsoft YaHei"/>
              </a:rPr>
              <a:t>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974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响应缓存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重复请求本地回答, 不花 token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80"/>
            <a:ext cx="54864" cy="822960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>
                <a:solidFill>
                  <a:srgbClr val="FFA94D"/>
                </a:solidFill>
                <a:latin typeface="Microsoft YaHei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6576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Cache 检测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69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上游已缓存的 prompt, 不会再让你付一次钱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72000"/>
            <a:ext cx="54864" cy="8229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>
                <a:solidFill>
                  <a:srgbClr val="8B5CF6"/>
                </a:solidFill>
                <a:latin typeface="Microsoft YaHei"/>
              </a:rPr>
              <a:t>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177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统一密钥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029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API Key 进系统钥匙串, 对 Agent 透明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1828800"/>
            <a:ext cx="4846320" cy="822960"/>
          </a:xfrm>
          <a:prstGeom prst="rect">
            <a:avLst/>
          </a:prstGeom>
          <a:solidFill>
            <a:srgbClr val="222736"/>
          </a:solidFill>
          <a:ln w="19050">
            <a:solidFill>
              <a:srgbClr val="FFA9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A94D"/>
                </a:solidFill>
                <a:latin typeface="Microsoft YaHei"/>
              </a:rPr>
              <a:t>Claude Code  (Anthropic 协议)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697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42B883"/>
                </a:solidFill>
                <a:latin typeface="Microsoft YaHei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3017520"/>
            <a:ext cx="4846320" cy="9144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301752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Microsoft YaHei"/>
              </a:rPr>
              <a:t>RunJam 协议代理</a:t>
            </a:r>
          </a:p>
          <a:p>
            <a:pPr algn="ctr"/>
            <a:r>
              <a:rPr sz="1500" b="1">
                <a:solidFill>
                  <a:srgbClr val="F1F5F9"/>
                </a:solidFill>
                <a:latin typeface="Microsoft YaHei"/>
              </a:rPr>
              <a:t>实时翻译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97763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42B883"/>
                </a:solidFill>
                <a:latin typeface="Microsoft YaHei"/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4297680"/>
            <a:ext cx="4846320" cy="822960"/>
          </a:xfrm>
          <a:prstGeom prst="rect">
            <a:avLst/>
          </a:prstGeom>
          <a:solidFill>
            <a:srgbClr val="222736"/>
          </a:solidFill>
          <a:ln w="19050">
            <a:solidFill>
              <a:srgbClr val="42B8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29768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42B883"/>
                </a:solidFill>
                <a:latin typeface="Microsoft YaHei"/>
              </a:rPr>
              <a:t>GPT-4o  (OpenAI 协议)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3035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Microsoft YaHei"/>
              </a:rPr>
              <a:t>✅ Agent 零改造, 模型零绑定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6692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Microsoft YaHei"/>
              </a:rPr>
              <a:t>✅ 不改 Claude Code, 也不改 GPT-4o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A94D"/>
                </a:solidFill>
                <a:latin typeface="Microsoft YaHei"/>
              </a:rPr>
              <a:t>08 · 使用场景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Microsoft YaHei"/>
              </a:rPr>
              <a:t>RunJam 的一天: 周一 / 周中 / 周五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Microsoft YaHei"/>
              </a:rPr>
              <a:t>三个工作日, 三种工作流, 同一个 RunJam。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3611880" cy="448056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611880" cy="6400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Microsoft YaHei"/>
              </a:rPr>
              <a:t>周一早上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39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Microsoft YaHei"/>
              </a:rPr>
              <a:t>三个仓库要动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打开 RunJam —— 看板显示三张卡: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79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● runjam-core  →  Claude Code · 运行中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47287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● api-refactor  →  Codex · 空闲, 等你输入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3989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● experiments   →  Gemini · 等待审阅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343400"/>
            <a:ext cx="3063240" cy="1828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点开 Codex 那张卡, 丢个新 prompt, 继续干别的。</a:t>
            </a:r>
          </a:p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三个项目一个窗口, 告别切终端。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6552" y="1874519"/>
            <a:ext cx="3611880" cy="448056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6552" y="1874519"/>
            <a:ext cx="3611880" cy="64008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1874519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F121A"/>
                </a:solidFill>
                <a:latin typeface="Microsoft YaHei"/>
              </a:rPr>
              <a:t>周中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148839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F121A"/>
                </a:solidFill>
                <a:latin typeface="Microsoft YaHei"/>
              </a:rPr>
              <a:t>账单审计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7432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打开费用看板 —— 图表显示: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3154679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● 本周 60% token 烧在 api-refactor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3447287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● 几乎全是 GPT-4o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373989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● 缓存命中率偏低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90872" y="4343400"/>
            <a:ext cx="3063240" cy="18288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44805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打开模型中心, 把 api-refactor 换成本地 Qwen-Coder 跑常规重构, 难题才留给 GPT-4o。</a:t>
            </a:r>
          </a:p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下周同一张图, 费用砍半。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93023" y="1874519"/>
            <a:ext cx="3611880" cy="448056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93023" y="1874519"/>
            <a:ext cx="3611880" cy="640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1874519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Microsoft YaHei"/>
              </a:rPr>
              <a:t>周五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2148839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Microsoft YaHei"/>
              </a:rPr>
              <a:t>敏感任务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344" y="27432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客户发来含专有定价模型的合同条款。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344" y="3154679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● 不想让任何东西碰厂商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3447287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● 不想上传代码, 上传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373989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● 只想用本机算力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67344" y="4343400"/>
            <a:ext cx="3063240" cy="1828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67344" y="44805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打开本地模型启动器, 点 "启动" 已下好的 Qwen-72B, 全程在本机跑分析。</a:t>
            </a:r>
          </a:p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数据从来没出过你的笔记本。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2B883"/>
                </a:solidFill>
                <a:latin typeface="Microsoft YaHei"/>
              </a:rPr>
              <a:t>09 · 商业模式 + 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Microsoft YaHei"/>
              </a:rPr>
              <a:t>开源免费, 增值可期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5349240" cy="457200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349240" cy="45720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F121A"/>
                </a:solidFill>
                <a:latin typeface="Microsoft YaHei"/>
              </a:rPr>
              <a:t>💰  商业模式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377440"/>
            <a:ext cx="274320" cy="27432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Microsoft YaHei"/>
              </a:rPr>
              <a:t>开源核心 (MIT)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517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永久免费 · 个人 / 团队均可使用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154680"/>
            <a:ext cx="27432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0632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Microsoft YaHei"/>
              </a:rPr>
              <a:t>云端模型按用量计费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290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走 Anthropic / OpenAI 等官方通道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931920"/>
            <a:ext cx="274320" cy="2743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Microsoft YaHei"/>
              </a:rPr>
              <a:t>企业版 (未来)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062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团队协作 / 审计日志 / SSO / 私有部署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709159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6177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Microsoft YaHei"/>
              </a:rPr>
              <a:t>云托管 (未来)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983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可选的会话云同步 · 跨设备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2B883"/>
                </a:solidFill>
                <a:latin typeface="Microsoft YaHei"/>
              </a:rPr>
              <a:t>本地模型永远免费 —— 你只出硬件电费。</a:t>
            </a:r>
          </a:p>
          <a:p>
            <a:pPr algn="l"/>
            <a:r>
              <a:rPr sz="1200" b="0">
                <a:solidFill>
                  <a:srgbClr val="42B883"/>
                </a:solidFill>
                <a:latin typeface="Microsoft YaHei"/>
              </a:rPr>
              <a:t>云模型走服务商官方计费, RunJam 零抽成。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1645920"/>
            <a:ext cx="5349240" cy="457200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1645920"/>
            <a:ext cx="5349240" cy="457200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1645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F121A"/>
                </a:solidFill>
                <a:latin typeface="Microsoft YaHei"/>
              </a:rPr>
              <a:t>🗺️  路线图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331720"/>
            <a:ext cx="109728" cy="77724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2860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42B883"/>
                </a:solidFill>
                <a:latin typeface="Microsoft YaHei"/>
              </a:rPr>
              <a:t>✅ v0.x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286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已完成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651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Microsoft YaHei"/>
              </a:rPr>
              <a:t>Agent 管理 / 统一聊天 / 多 Agent 多项目 / 模型中心 / 协议代理 / 本地模型 / 会话看板 / 应用管理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200400"/>
            <a:ext cx="109728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1546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icrosoft YaHei"/>
              </a:rPr>
              <a:t>🔜 v1.0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154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近期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5204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Microsoft YaHei"/>
              </a:rPr>
              <a:t>Git worktree 集成 · Agent 自动更新 · 插件 / 技能系统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4069080"/>
            <a:ext cx="109728" cy="7772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0233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  <a:latin typeface="Microsoft YaHei"/>
              </a:rPr>
              <a:t>🚧 v1.x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0233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中期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389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Microsoft YaHei"/>
              </a:rPr>
              <a:t>Linux 构建 · 移动端伴侣 (只读会话视图) · 团队协作 / SSO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937759"/>
            <a:ext cx="109728" cy="7772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8920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Microsoft YaHei"/>
              </a:rPr>
              <a:t>🔭 远期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892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未来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257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Microsoft YaHei"/>
              </a:rPr>
              <a:t>会话云同步 · 企业审计 · 私有部署 · 商业插件市场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</a:rPr>
              <a:t>10 · 加入我们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Microsoft YaHei"/>
              </a:rPr>
              <a:t>一个桌面, 一个社区, 一起重新定义 AI 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Microsoft YaHei"/>
              </a:rPr>
              <a:t>RunJam 100% 开源 (MIT)。我们相信工具应该属于开发者, 不属于云厂商。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3611880" cy="365760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3611880" cy="50292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F121A"/>
                </a:solidFill>
                <a:latin typeface="Microsoft YaHei"/>
              </a:rPr>
              <a:t>🧑‍💻  我们需要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Rust 后端工程师 (Tauri / 代理)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Vue 3 前端工程师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AI Agent 协议研究者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UI / UX 设计师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本地模型性能调优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6552" y="1965960"/>
            <a:ext cx="3611880" cy="365760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965960"/>
            <a:ext cx="3611880" cy="502920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196596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Microsoft YaHei"/>
              </a:rPr>
              <a:t>⚡  现在就能上手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7432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⭐ Star 仓库, 让更多人看见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32461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🐛 提 Issue / 修 Bug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3749039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📖 完善文档 / 翻译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42519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🧪 测试 Linux 构建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47548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🧩 贡献新 Agent 适配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3" y="1965960"/>
            <a:ext cx="3611880" cy="365760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93023" y="1965960"/>
            <a:ext cx="3611880" cy="502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4" y="196596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Microsoft YaHei"/>
              </a:rPr>
              <a:t>🤝  联系方式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27432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GitHub:  github.com/peintune/runjam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32461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Issues:  提需求 / Bug 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4" y="3749039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Discussions:  功能讨论 / 反馈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344" y="42519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PR:  欢迎提交, 见 CONTRIBUTING.md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47548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License:  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42B883"/>
                </a:solidFill>
                <a:latin typeface="Microsoft YaHei"/>
              </a:rPr>
              <a:t>⭐ Star · 🐛 Issue · 🔀 PR —  让 RunJam 走得更远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0"/>
            <a:ext cx="7315200" cy="6858000"/>
          </a:xfrm>
          <a:prstGeom prst="rect">
            <a:avLst/>
          </a:prstGeom>
          <a:solidFill>
            <a:srgbClr val="1A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-1828800"/>
            <a:ext cx="4572000" cy="457200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-1371600"/>
            <a:ext cx="4114800" cy="4114800"/>
          </a:xfrm>
          <a:prstGeom prst="rect">
            <a:avLst/>
          </a:prstGeom>
          <a:solidFill>
            <a:srgbClr val="0F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0" y="-914400"/>
            <a:ext cx="3657600" cy="3657600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38560" y="-548640"/>
            <a:ext cx="3291840" cy="3291840"/>
          </a:xfrm>
          <a:prstGeom prst="rect">
            <a:avLst/>
          </a:prstGeom>
          <a:solidFill>
            <a:srgbClr val="0F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F1F5F9"/>
                </a:solidFill>
                <a:latin typeface="Microsoft YaHei"/>
              </a:rPr>
              <a:t>让 AI Agent 开发, 回归你的桌面。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42B883"/>
                </a:solidFill>
                <a:latin typeface="Microsoft YaHei"/>
              </a:rPr>
              <a:t>让选择权, 回到你手里。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3200400"/>
            <a:ext cx="731520" cy="73152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3474720"/>
            <a:ext cx="731520" cy="731520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0" y="3749039"/>
            <a:ext cx="731520" cy="731520"/>
          </a:xfrm>
          <a:prstGeom prst="rect">
            <a:avLst/>
          </a:prstGeom>
          <a:solidFill>
            <a:srgbClr val="CE4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4023360"/>
            <a:ext cx="731520" cy="7315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37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Microsoft YaHei"/>
              </a:rPr>
              <a:t>Tauri 2  ·  Rust  ·  Vue 3  ·  llama.cpp  ·  MIT License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86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42B883"/>
                </a:solidFill>
                <a:latin typeface="Microsoft YaHei"/>
              </a:rPr>
              <a:t>github.com/peintune/runjam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Microsoft YaHei"/>
              </a:rPr>
              <a:t>由 Rust 🦀 和 Vue 3 💚 打造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